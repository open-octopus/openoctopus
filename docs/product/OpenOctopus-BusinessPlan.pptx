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Arial"/>
              </a:defRPr>
            </a:pPr>
            <a:r>
              <a:t>OpenOctopus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商 业 计 划 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Arial"/>
              </a:defRPr>
            </a:pPr>
            <a:r>
              <a:t>全球首个 Realm-native 人生治理 Agent 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931920"/>
            <a:ext cx="3047695" cy="36576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Arial"/>
              </a:defRPr>
            </a:pPr>
            <a:r>
              <a:t>2026年3月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hello@openoctopus.org  |  github.com/open-octopus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2296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将你的人生分域治理（宠物、父母、财务、工作...），通过 Summon 将任何现实对象转化为有记忆、有性格、可主动行动的 AI Agent。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291840" cy="146304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AI工具碎片化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❌ ChatGPT/Notion/记账软件来回切换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✅ Realm Matrix 一站式管理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3291840" cy="146304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情感连接缺失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❌ 通用AI冷冰冰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✅ Summon 实体人格化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291840" cy="146304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隐私焦虑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80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❌ 云端AI存储敏感数据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✅ Local-first 本地存储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256032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🎯 目标市场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$7.6B → $183B (2033)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206240"/>
            <a:ext cx="256032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💰 融资需求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种子轮 ¥200万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06240"/>
            <a:ext cx="256032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👥 团队规模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5人核心团队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206240"/>
            <a:ext cx="256032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📊 开发进度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Phase 1 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核心创新 — Summon 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将现实实体转化为 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6400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原始数据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371600"/>
            <a:ext cx="2560320" cy="6400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结构化实体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2560320" cy="6400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929"/>
                </a:solidFill>
                <a:latin typeface="Arial"/>
              </a:defRPr>
            </a:pPr>
            <a:r>
              <a:t>Summon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417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371600"/>
            <a:ext cx="2560320" cy="6400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有记忆·有个性·可行动的Agent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77440"/>
            <a:ext cx="274320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🐕 Living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宠物、家人、朋友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模拟对话、情感表达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2377440"/>
            <a:ext cx="274320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19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🏠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19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汽车、房产、投资组合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状态监控、维护提醒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274320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861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🏢 Organization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医院、学校、公司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流程向导、预约协调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3749039"/>
            <a:ext cx="2743200" cy="118872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19" y="38861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📋 Abstract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19" y="42519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目标、项目、习惯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进度追踪、偏差预警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377440"/>
            <a:ext cx="5029200" cy="38404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用户："我下周要出差5天。"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🐕 Momo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"谁要喂我、遛我5天啊？！"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7947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Arial"/>
              </a:defRPr>
            </a:pPr>
            <a:r>
              <a:t>👩 Mom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069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"妈说她正好想来看看——她可以照顾 Momo。"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Arial"/>
              </a:defRPr>
            </a:pPr>
            <a:r>
              <a:t>🚗 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"出发前充满电？还是打车去机场？"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rial"/>
              </a:defRPr>
            </a:pPr>
            <a:r>
              <a:t>💰 Budget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"预估差旅费 ¥3,500，记得保存发票。"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与 OpenClaw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OpenClaw 已验证市场，但存在空白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Arial"/>
              </a:defRPr>
            </a:pPr>
            <a:r>
              <a:t>OpenClaw 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✅ 验证了"本地优先 + Agent"需求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❌ 技术门槛过高（需编写复杂配置）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❌ 假冒仓库传播恶意软件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❌ 定位偏向任务自动化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Arial"/>
              </a:defRPr>
            </a:pPr>
            <a:r>
              <a:t>OpenOctopus 填补空白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✅ 零门槛 Summon 机制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✅ 官方正版，安全审核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✅ 聚焦"人生治理"场景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✅ 扩大10倍潜在用户群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48463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OpenOctopus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任务自动化工具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人生治理系统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用户门槛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高（写配置）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低（一键召唤）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目标用户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技术极客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生活管理者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Realm-native 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6400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9"/>
                </a:solidFill>
                <a:latin typeface="Arial"/>
              </a:defRPr>
            </a:pPr>
            <a:r>
              <a:t>Central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1828800" cy="502920"/>
          </a:xfrm>
          <a:prstGeom prst="roundRect">
            <a:avLst/>
          </a:prstGeom>
          <a:solidFill>
            <a:srgbClr val="0D1F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286000"/>
            <a:ext cx="1828800" cy="502920"/>
          </a:xfrm>
          <a:prstGeom prst="roundRect">
            <a:avLst/>
          </a:prstGeom>
          <a:solidFill>
            <a:srgbClr val="0D1F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Coordinator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286000"/>
            <a:ext cx="1828800" cy="502920"/>
          </a:xfrm>
          <a:prstGeom prst="roundRect">
            <a:avLst/>
          </a:prstGeom>
          <a:solidFill>
            <a:srgbClr val="0D1F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Scheduler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2560320" cy="182880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🐕 Pet Realm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Agents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Skills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200400"/>
            <a:ext cx="2560320" cy="182880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💰 Finance Realm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7490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Agents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Skills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200400"/>
            <a:ext cx="2560320" cy="182880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⚖️ Legal Realm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490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Agents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Skills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3200400"/>
            <a:ext cx="2560320" cy="182880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👨‍👩‍👧 Parents Realm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7490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Agents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Skills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  <a:latin typeface="Arial"/>
              </a:defRPr>
            </a:pPr>
            <a: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12个预设 Realm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🐕 Pet  |  👨‍👩‍👧 Parents  |  💕 Partner  |  💰 Finance  |  💼 Work  |  ⚖️ Legal  |  🚗 Vehicle  |  🏠 Home  |  🏥 Health  |  🏃 Fitness  |  🎨 Hobby  |  👥 Friends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126480"/>
            <a:ext cx="10698480" cy="45720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Arial"/>
              </a:defRPr>
            </a:pPr>
            <a:r>
              <a:t>Node.js ≥22 + TypeScript  |  SQLite (Local-first)  |  Express 5 + WebSocket  |  MIT 开源协议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AI Agent 市场高速增长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$7.6B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Arial"/>
              </a:defRPr>
            </a:pPr>
            <a:r>
              <a:t>2025年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4FF"/>
                </a:solidFill>
                <a:latin typeface="Arial"/>
              </a:defRPr>
            </a:pPr>
            <a:r>
              <a:t>$183B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Arial"/>
              </a:defRPr>
            </a:pPr>
            <a:r>
              <a:t>2033年  CAGR 49.6%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数据来源：Grand View Research,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3291840"/>
            <a:ext cx="1463040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33375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SOM: $50M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3703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早期采用者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297680"/>
            <a:ext cx="2377440" cy="822960"/>
          </a:xfrm>
          <a:prstGeom prst="roundRect">
            <a:avLst/>
          </a:prstGeom>
          <a:solidFill>
            <a:srgbClr val="009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343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SAM: $500M (2026)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709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个人AI助手细分市场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5303520"/>
            <a:ext cx="3291840" cy="822960"/>
          </a:xfrm>
          <a:prstGeom prst="roundRect">
            <a:avLst/>
          </a:prstGeom>
          <a:solidFill>
            <a:srgbClr val="0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5349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TAM: $183B (2033)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715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全球AI Agent市场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目标用户画像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4572000" cy="13716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94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核心用户：极客/技术爱好者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25-40岁，开发者/产品经理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使用多个AI工具，感到碎片化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关注隐私，愿为个性化付费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4572000" cy="13716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扩展用户：生活管理者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30-50岁，多角色身份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管理复杂生活：宠物、父母、投资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非技术背景，需要低门槛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竞品矩阵分析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Competitive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Arial"/>
              </a:defRPr>
            </a:pPr>
            <a:r>
              <a:t>高技术门槛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Arial"/>
              </a:defRPr>
            </a:pPr>
            <a:r>
              <a:t>低技术门槛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Arial"/>
              </a:defRPr>
            </a:pPr>
            <a:r>
              <a:t>个人效率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Arial"/>
              </a:defRPr>
            </a:pPr>
            <a:r>
              <a:t>人生治理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2103120"/>
            <a:ext cx="228600" cy="22860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Arial"/>
              </a:defRPr>
            </a:pPr>
            <a:r>
              <a:t>OpenClaw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0" y="3931920"/>
            <a:ext cx="228600" cy="228600"/>
          </a:xfrm>
          <a:prstGeom prst="ellipse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3886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99AA"/>
                </a:solidFill>
                <a:latin typeface="Arial"/>
              </a:defRPr>
            </a:pPr>
            <a:r>
              <a:t>Notion AI</a:t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4297680"/>
            <a:ext cx="228600" cy="228600"/>
          </a:xfrm>
          <a:prstGeom prst="ellipse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99AA"/>
                </a:solidFill>
                <a:latin typeface="Arial"/>
              </a:defRPr>
            </a:pPr>
            <a:r>
              <a:t>Coze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2743200"/>
            <a:ext cx="228600" cy="228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Arial"/>
              </a:defRPr>
            </a:pPr>
            <a:r>
              <a:t>OpenOctopus ★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7920" y="137160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25603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核心差异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开源Agent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任务导向，配置复杂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Notion AI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工作空间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文档为中心，无领域划分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Sintra AI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商业Agent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仅面向商业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Coze/扣子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Agent平台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无领域组织，无本地优先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179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我们的护城河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D4FF"/>
                </a:solidFill>
                <a:latin typeface="Arial"/>
              </a:defRPr>
            </a:pPr>
            <a:r>
              <a:t>🏰 Realm-native 架构专利潜力</a:t>
            </a:r>
          </a:p>
          <a:p>
            <a:pPr>
              <a:spcAft>
                <a:spcPts val="800"/>
              </a:spcAft>
              <a:defRPr sz="1500">
                <a:solidFill>
                  <a:srgbClr val="00D4FF"/>
                </a:solidFill>
                <a:latin typeface="Arial"/>
              </a:defRPr>
            </a:pPr>
            <a:r>
              <a:t>🤖 Summon 实体转化引擎</a:t>
            </a:r>
          </a:p>
          <a:p>
            <a:pPr>
              <a:spcAft>
                <a:spcPts val="800"/>
              </a:spcAft>
              <a:defRPr sz="1500">
                <a:solidFill>
                  <a:srgbClr val="00D4FF"/>
                </a:solidFill>
                <a:latin typeface="Arial"/>
              </a:defRPr>
            </a:pPr>
            <a:r>
              <a:t>🕸️ 跨域知识图谱</a:t>
            </a:r>
          </a:p>
          <a:p>
            <a:pPr>
              <a:spcAft>
                <a:spcPts val="800"/>
              </a:spcAft>
              <a:defRPr sz="1500">
                <a:solidFill>
                  <a:srgbClr val="00D4FF"/>
                </a:solidFill>
                <a:latin typeface="Arial"/>
              </a:defRPr>
            </a:pPr>
            <a:r>
              <a:t>🔒 本地优先 + 云同步混合架构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开源 + 增值服务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899AA"/>
                </a:solidFill>
                <a:latin typeface="Arial"/>
              </a:defRPr>
            </a:pPr>
            <a:r>
              <a:t>社区版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¥0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开源核心功能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560320" cy="20116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Pro版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¥29/月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高级Agent + 云同步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20116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53"/>
                </a:solidFill>
                <a:latin typeface="Arial"/>
              </a:defRPr>
            </a:pPr>
            <a:r>
              <a:t>家庭版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¥69/月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多用户 + 家庭共享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20116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Arial"/>
              </a:defRPr>
            </a:pPr>
            <a:r>
              <a:t>企业版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¥199/人/月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企业部署 + 专属支持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2027年收入占比预测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329184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69080" y="4114800"/>
            <a:ext cx="1097280" cy="4572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0" y="4114800"/>
            <a:ext cx="82296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80760" y="4114800"/>
            <a:ext cx="274320" cy="457200"/>
          </a:xfrm>
          <a:prstGeom prst="round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Arial"/>
              </a:defRPr>
            </a:pPr>
            <a:r>
              <a:t>Pro订阅 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53"/>
                </a:solidFill>
                <a:latin typeface="Arial"/>
              </a:defRPr>
            </a:pPr>
            <a:r>
              <a:t>RealmHub抽成 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  <a:latin typeface="Arial"/>
              </a:defRPr>
            </a:pPr>
            <a:r>
              <a:t>企业版 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家庭版 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10698480" cy="146304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RealmHub 生态系统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创作者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开发 Realm 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623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发布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上传到 RealmHub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623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用户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购买/下载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623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分成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创作者获得70%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财务规划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3年财务预测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92608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收入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净利润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¥50万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¥504万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-¥454万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¥500万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¥1,080万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-¥580万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¥2,000万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¥2,280万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-¥280万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关键里程碑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0058400" cy="36576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4023360"/>
            <a:ext cx="274320" cy="2743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53"/>
                </a:solidFill>
                <a:latin typeface="Arial"/>
              </a:defRPr>
            </a:pPr>
            <a:r>
              <a:t>2026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Phase 1 完成</a:t>
            </a:r>
            <a:br/>
            <a:r>
              <a:t>垂直切片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402336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Arial"/>
              </a:defRPr>
            </a:pPr>
            <a:r>
              <a:t>2026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商业化启动</a:t>
            </a:r>
            <a:br/>
            <a:r>
              <a:t>Pro版上线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40233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Arial"/>
              </a:defRPr>
            </a:pPr>
            <a:r>
              <a:t>2027 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A轮融资</a:t>
            </a:r>
            <a:br/>
            <a:r>
              <a:t>¥50万 MRR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0" y="402336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2028-2029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盈亏平衡</a:t>
            </a:r>
            <a:br/>
            <a:r>
              <a:t>持续增长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融资计划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5029200" cy="9144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种子轮：¥200万（当前）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63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用途：研发60% + 团队25% + 市场15%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里程碑：10K Stars，RealmHub上线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760720"/>
            <a:ext cx="5212080" cy="9144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897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A轮：¥1,000-1,500万（2027 Q2）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263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里程碑：10K DAU，¥50万月经常性收入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里程碑与当前进度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Phase 1 已完成，进入 Phase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52120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关键交付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2026 Q1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Monorepo, Core, Gateway, CLI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2026 Q2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🔄 进行中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Web Dashboard, Realm Matrix UI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2026 Q3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⏳ 待开始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RealmHub, 官方Realm包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2026 Q4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⏳ 待开始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移动端, Pro版订阅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⏳ 待开始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生态扩张, 10K+ DAU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当前指标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2560320" cy="9144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📦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核心包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480560"/>
            <a:ext cx="2560320" cy="9144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526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🧪 51+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单元测试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480560"/>
            <a:ext cx="2560320" cy="9144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📄 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开源协议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480560"/>
            <a:ext cx="2560320" cy="914400"/>
          </a:xfrm>
          <a:prstGeom prst="round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526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🏗️ 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垂直切片完成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2026年目标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8899AA"/>
                </a:solidFill>
                <a:latin typeface="Arial"/>
              </a:defRPr>
            </a:pPr>
            <a:r>
              <a:t>GitHub Stars: 5,000+</a:t>
            </a:r>
          </a:p>
          <a:p>
            <a:pPr>
              <a:spcAft>
                <a:spcPts val="200"/>
              </a:spcAft>
              <a:defRPr sz="1400">
                <a:solidFill>
                  <a:srgbClr val="8899AA"/>
                </a:solidFill>
                <a:latin typeface="Arial"/>
              </a:defRPr>
            </a:pPr>
            <a:r>
              <a:t>活跃Realm: 10,000+</a:t>
            </a:r>
          </a:p>
          <a:p>
            <a:pPr>
              <a:spcAft>
                <a:spcPts val="200"/>
              </a:spcAft>
              <a:defRPr sz="1400">
                <a:solidFill>
                  <a:srgbClr val="8899AA"/>
                </a:solidFill>
                <a:latin typeface="Arial"/>
              </a:defRPr>
            </a:pPr>
            <a:r>
              <a:t>付费转化率: 5%</a:t>
            </a:r>
          </a:p>
          <a:p>
            <a:pPr>
              <a:spcAft>
                <a:spcPts val="200"/>
              </a:spcAft>
              <a:defRPr sz="1400">
                <a:solidFill>
                  <a:srgbClr val="8899AA"/>
                </a:solidFill>
                <a:latin typeface="Arial"/>
              </a:defRPr>
            </a:pPr>
            <a:r>
              <a:t>全年收入: ¥50万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核心团队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创始人/架构师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职责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系统设计、Summon机制、产品方向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10年+系统架构，AI Agent领域深耕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71600"/>
            <a:ext cx="3383280" cy="219456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Arial"/>
              </a:defRPr>
            </a:pPr>
            <a:r>
              <a:t>后端负责人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职责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Core + Storage + Ink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Node.js/TypeScript专家，Local-first架构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383280" cy="219456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前端负责人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职责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Dashboard Web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React/Next.js全栈，数据可视化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Arial"/>
              </a:defRPr>
            </a:pPr>
            <a:r>
              <a:t>AI研究员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职责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LLM集成、Agent运行时、Summon引擎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多模型部署，Prompt Engineering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931920"/>
            <a:ext cx="3383280" cy="219456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39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Arial"/>
              </a:defRPr>
            </a:pPr>
            <a:r>
              <a:t>产品经理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职责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RealmHub、用户体验、增长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背景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个人效率工具，开源社区运营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顾问团队：AI伦理专家  |  开源社区顾问  |  效率工具KOL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退出机制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清晰的退出路径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21208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动机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可能性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Notion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补足人生治理维度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增强Copilot个人场景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字节跳动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豆包生态补充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OpenClaw基金会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生态整合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5029200" cy="10972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战略收购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Notion, Microsoft, 字节跳动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029200" cy="10972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977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Arial"/>
              </a:defRPr>
            </a:pPr>
            <a:r>
              <a:t>持续运营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开源+云服务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5029200" cy="10972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Arial"/>
              </a:defRPr>
            </a:pPr>
            <a:r>
              <a:t>并购整合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60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OpenClaw 生态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212080"/>
            <a:ext cx="5029200" cy="10972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349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760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5-7年, $100M ARR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Arial"/>
              </a:defRPr>
            </a:pPr>
            <a:r>
              <a:t>高可能性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Arial"/>
              </a:defRPr>
            </a:pPr>
            <a:r>
              <a:t>↓ 长期目标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风险与应对策略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Risk &amp;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5544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Arial"/>
              </a:defRPr>
            </a:pPr>
            <a:r>
              <a:t>🔴 OpenClaw竞争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</a:defRPr>
            </a:pPr>
            <a:r>
              <a:t>风险：生态庞大，可能覆盖我们的功能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Arial"/>
              </a:defRPr>
            </a:pPr>
            <a:r>
              <a:t>应对：差异化定位（人生治理 vs 任务自动化），生态兼容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5544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Arial"/>
              </a:defRPr>
            </a:pPr>
            <a:r>
              <a:t>🟡 LLM成本波动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</a:defRPr>
            </a:pPr>
            <a:r>
              <a:t>风险：API价格上涨影响运营成本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Arial"/>
              </a:defRPr>
            </a:pPr>
            <a:r>
              <a:t>应对：多供应商策略 + 本地模型（Ollama）降级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Arial"/>
              </a:defRPr>
            </a:pPr>
            <a:r>
              <a:t>🟢 开源商业化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</a:defRPr>
            </a:pPr>
            <a:r>
              <a:t>风险：代码开源难以收费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Arial"/>
              </a:defRPr>
            </a:pPr>
            <a:r>
              <a:t>应对：云服务增值 + RealmHub商店 + 企业版服务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Arial"/>
              </a:defRPr>
            </a:pPr>
            <a:r>
              <a:t>开源商业化已被 GitLab、MongoDB 验证可行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Arial"/>
              </a:defRPr>
            </a:pPr>
            <a:r>
              <a:t>愿景与行动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Arial"/>
              </a:defRPr>
            </a:pPr>
            <a:r>
              <a:t>让AI成为人生的治理者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1371600"/>
          </a:xfrm>
          <a:prstGeom prst="roundRect">
            <a:avLst/>
          </a:prstGeom>
          <a:solidFill>
            <a:srgbClr val="12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t>"让每个人都拥有一个</a:t>
            </a:r>
            <a:br/>
            <a:r>
              <a:t>真正懂你的AI人生伙伴"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0175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OpenOctopus</a:t>
                      </a:r>
                    </a:p>
                  </a:txBody>
                  <a:tcPr>
                    <a:solidFill>
                      <a:srgbClr val="1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任务自动化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人生治理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门槛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高（写配置）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低（一键召唤）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用户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技术极客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生活管理者</a:t>
                      </a:r>
                    </a:p>
                  </a:txBody>
                  <a:tcPr>
                    <a:solidFill>
                      <a:srgbClr val="12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小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大10倍</a:t>
                      </a:r>
                    </a:p>
                  </a:txBody>
                  <a:tcPr>
                    <a:solidFill>
                      <a:srgbClr val="0D1F3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86400"/>
            <a:ext cx="2560320" cy="9144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9"/>
                </a:solidFill>
                <a:latin typeface="Arial"/>
              </a:defRPr>
            </a:pPr>
            <a:r>
              <a:t>🔗 加入社区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A1929"/>
                </a:solidFill>
                <a:latin typeface="Arial"/>
              </a:defRPr>
            </a:pPr>
            <a:r>
              <a:t>discord.gg/openoctopus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486400"/>
            <a:ext cx="256032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532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9"/>
                </a:solidFill>
                <a:latin typeface="Arial"/>
              </a:defRPr>
            </a:pPr>
            <a:r>
              <a:t>⭐ Star项目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A1929"/>
                </a:solidFill>
                <a:latin typeface="Arial"/>
              </a:defRPr>
            </a:pPr>
            <a:r>
              <a:t>github.com/open-octopus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486400"/>
            <a:ext cx="2560320" cy="9144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532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9"/>
                </a:solidFill>
                <a:latin typeface="Arial"/>
              </a:defRPr>
            </a:pPr>
            <a:r>
              <a:t>📺 观看Demo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A1929"/>
                </a:solidFill>
                <a:latin typeface="Arial"/>
              </a:defRPr>
            </a:pPr>
            <a:r>
              <a:t>即将发布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5486400"/>
            <a:ext cx="2560320" cy="91440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532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9"/>
                </a:solidFill>
                <a:latin typeface="Arial"/>
              </a:defRPr>
            </a:pPr>
            <a:r>
              <a:t>🛠️ 参与建设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A1929"/>
                </a:solidFill>
                <a:latin typeface="Arial"/>
              </a:defRPr>
            </a:pPr>
            <a:r>
              <a:t>贡献Realm模板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  <a:latin typeface="Arial"/>
              </a:defRPr>
            </a:pPr>
            <a:r>
              <a:t>OpenOctopus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99AA"/>
                </a:solidFill>
                <a:latin typeface="Arial"/>
              </a:defRPr>
            </a:pPr>
            <a:r>
              <a:t>Realm-native 人生治理 Agent 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017520"/>
            <a:ext cx="3047695" cy="36576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  <a:br/>
            <a:r>
              <a:t>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📧 hello@openoctopus.org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🐙 github.com/open-octopus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💬 discord.gg/openoctopus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🐦 @OpenOctopusAI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